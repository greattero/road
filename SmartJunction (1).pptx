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1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oad_phot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46520" y="0"/>
            <a:ext cx="57451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5080" y="0"/>
            <a:ext cx="365760" cy="6858000"/>
          </a:xfrm>
          <a:prstGeom prst="rect">
            <a:avLst/>
          </a:prstGeom>
          <a:solidFill>
            <a:srgbClr val="211F1D"/>
          </a:solidFill>
          <a:ln/>
        </p:spPr>
      </p:sp>
      <p:sp>
        <p:nvSpPr>
          <p:cNvPr id="4" name="Shape 1"/>
          <p:cNvSpPr/>
          <p:nvPr/>
        </p:nvSpPr>
        <p:spPr>
          <a:xfrm>
            <a:off x="6035040" y="0"/>
            <a:ext cx="6156655" cy="6858000"/>
          </a:xfrm>
          <a:prstGeom prst="rect">
            <a:avLst/>
          </a:prstGeom>
          <a:solidFill>
            <a:srgbClr val="211F1D">
              <a:alpha val="4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HACKATHON 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1417320"/>
            <a:ext cx="5760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5F3E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SmartJunction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speed ramps, rising bollards, and camera enforcement for junctions that have no lane paint and no traffic lights.</a:t>
            </a:r>
            <a:endParaRPr lang="en-US" sz="1500" dirty="0"/>
          </a:p>
        </p:txBody>
      </p:sp>
      <p:pic>
        <p:nvPicPr>
          <p:cNvPr id="8" name="Image 1" descr="icons/mark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605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41330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Bogoso Junction — Bogoso–Tarkwa Rd, Prestea-Huni Valley, Ghana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" y="4892040"/>
            <a:ext cx="146304" cy="146304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1" name="Shape 7"/>
          <p:cNvSpPr/>
          <p:nvPr/>
        </p:nvSpPr>
        <p:spPr>
          <a:xfrm>
            <a:off x="896112" y="489204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Shape 8"/>
          <p:cNvSpPr/>
          <p:nvPr/>
        </p:nvSpPr>
        <p:spPr>
          <a:xfrm>
            <a:off x="1152144" y="4892040"/>
            <a:ext cx="146304" cy="146304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3" name="Text 9"/>
          <p:cNvSpPr/>
          <p:nvPr/>
        </p:nvSpPr>
        <p:spPr>
          <a:xfrm>
            <a:off x="1417320" y="48280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junction that reads the light and decides for itself when to slow, stop, and log.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5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211F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Rural T-junctions ask drivers to self-regulate — and most don't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2020824"/>
            <a:ext cx="128016" cy="128016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5623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1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lane markings, no signal heads — right of way is negotiated car-by-car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980944"/>
            <a:ext cx="128016" cy="128016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1635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1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Laterite/dirt surface cuts braking grip well below the sealed-road assumption speed bumps are designed for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3941064"/>
            <a:ext cx="128016" cy="128016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77647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1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trucks and shared taxis merge from a blind side road directly into through traffic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4901184"/>
            <a:ext cx="128016" cy="128016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73659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1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today means a traffic officer standing in the sun, or nothing at all</a:t>
            </a:r>
            <a:endParaRPr lang="en-US" sz="1400" dirty="0"/>
          </a:p>
        </p:txBody>
      </p:sp>
      <p:pic>
        <p:nvPicPr>
          <p:cNvPr id="12" name="Image 0" descr="road_phot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777240"/>
            <a:ext cx="5074920" cy="2464308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pic>
      <p:sp>
        <p:nvSpPr>
          <p:cNvPr id="13" name="Text 10"/>
          <p:cNvSpPr/>
          <p:nvPr/>
        </p:nvSpPr>
        <p:spPr>
          <a:xfrm>
            <a:off x="6537960" y="3319272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Bogoso Junction, present day — unmarked merge, mixed heavy/light traffic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37960" y="3977640"/>
            <a:ext cx="5074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5" name="Image 1" descr="icons/r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420624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06640" y="4206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1F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This is exactly the junction shape we modeled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766560" y="475488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1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through road (Bogoso–Tarkwa Rd) with a side road ending directly at it — a textbook T-junction, and the shape our simulation is built around.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5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1F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satellite view to simulation model</a:t>
            </a:r>
            <a:endParaRPr lang="en-US" sz="2500" dirty="0"/>
          </a:p>
        </p:txBody>
      </p:sp>
      <p:pic>
        <p:nvPicPr>
          <p:cNvPr id="4" name="Image 0" descr="Screenshot_2026-07-07_23235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5212080" cy="3593592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48640" y="53492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Bogoso Junction, Google Maps — Bogoso–Tarkwa Rd (through) meets a side road (stub)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949440" y="1691640"/>
            <a:ext cx="4663440" cy="35935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778240" y="1828800"/>
            <a:ext cx="1005840" cy="3319272"/>
          </a:xfrm>
          <a:prstGeom prst="rect">
            <a:avLst/>
          </a:prstGeom>
          <a:solidFill>
            <a:srgbClr val="211F1D"/>
          </a:solidFill>
          <a:ln/>
        </p:spPr>
      </p:sp>
      <p:sp>
        <p:nvSpPr>
          <p:cNvPr id="8" name="Shape 5"/>
          <p:cNvSpPr/>
          <p:nvPr/>
        </p:nvSpPr>
        <p:spPr>
          <a:xfrm>
            <a:off x="7223760" y="3122676"/>
            <a:ext cx="2103120" cy="731520"/>
          </a:xfrm>
          <a:prstGeom prst="rect">
            <a:avLst/>
          </a:prstGeom>
          <a:solidFill>
            <a:srgbClr val="211F1D"/>
          </a:solidFill>
          <a:ln/>
        </p:spPr>
      </p:sp>
      <p:sp>
        <p:nvSpPr>
          <p:cNvPr id="9" name="Shape 6"/>
          <p:cNvSpPr/>
          <p:nvPr/>
        </p:nvSpPr>
        <p:spPr>
          <a:xfrm>
            <a:off x="9281160" y="1828800"/>
            <a:ext cx="0" cy="3319272"/>
          </a:xfrm>
          <a:prstGeom prst="line">
            <a:avLst/>
          </a:prstGeom>
          <a:noFill/>
          <a:ln w="19050">
            <a:solidFill>
              <a:srgbClr val="C9C4B4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7223760" y="3488436"/>
            <a:ext cx="2103120" cy="0"/>
          </a:xfrm>
          <a:prstGeom prst="line">
            <a:avLst/>
          </a:prstGeom>
          <a:noFill/>
          <a:ln w="19050">
            <a:solidFill>
              <a:srgbClr val="C9C4B4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8092440" y="16733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1F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VERTICAL — THROUGH ROAD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11F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lanes, north–south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086600" y="2436876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11F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HORIZONTAL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11F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STUB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11F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lanes,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11F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ends at junction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949440" y="53949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1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T-junction geometry — one through road, one road that ends at it — is the exact model our simulation runs.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1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3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mechanisms, one shared logic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4023360"/>
          </a:xfrm>
          <a:prstGeom prst="rect">
            <a:avLst/>
          </a:prstGeom>
          <a:solidFill>
            <a:srgbClr val="2E2B2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86000"/>
            <a:ext cx="777240" cy="7772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icons/spee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4688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461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3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Smart speed ramps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74904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physical humps per lane, always active. When the light turns yellow they grip harder — forcing a hard, fixed low speed no matter what limit is posted.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965960"/>
            <a:ext cx="3520440" cy="4023360"/>
          </a:xfrm>
          <a:prstGeom prst="rect">
            <a:avLst/>
          </a:prstGeom>
          <a:solidFill>
            <a:srgbClr val="2E2B2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286000"/>
            <a:ext cx="777240" cy="7772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icons/boll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4688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2461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3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Rising bollards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09160" y="374904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separate, lane-width post placed after the ramps. It only rises on red, giving a clean physical stop instead of a blended slow-down.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1965960"/>
            <a:ext cx="3520440" cy="4023360"/>
          </a:xfrm>
          <a:prstGeom prst="rect">
            <a:avLst/>
          </a:prstGeom>
          <a:solidFill>
            <a:srgbClr val="2E2B2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9640" y="2286000"/>
            <a:ext cx="777240" cy="7772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2" descr="icons/camera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4688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32461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3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Speed cameras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549640" y="374904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ahead of the ramps on every approach, logging any vehicle still over the limit before traffic-calming even begins.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5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DEVICES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1F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Five devices, one shared control loop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icons/sp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200253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837944"/>
            <a:ext cx="4544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1F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Smart speed ramps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61872" y="2203704"/>
            <a:ext cx="45445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per lane. Always-on mild cap; clamps to a hard low speed the moment the light turns yellow, no matter the posted limit.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9" name="Image 1" descr="icons/bollard_b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419856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3255264"/>
            <a:ext cx="4544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1F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Rising bollard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61872" y="3621024"/>
            <a:ext cx="45445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lane, just past the ramps. Rises to about half a tyre's height on red — enough to physically hold the lane without acting like a wall.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70916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2" descr="icons/came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483717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1872" y="4672584"/>
            <a:ext cx="4544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1F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Speed camera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61872" y="5038344"/>
            <a:ext cx="45445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approach, ahead of the ramps. Captures any vehicle already over the limit before calming begins, and logs it.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355080" y="187452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3" descr="icons/sign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2002536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68312" y="1837944"/>
            <a:ext cx="4544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1F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Traffic signal head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7068312" y="2203704"/>
            <a:ext cx="45445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road (vertical and horizontal). Runs the green → yellow → red phase every other device keys off.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355080" y="329184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4" descr="icons/dash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3419856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68312" y="3255264"/>
            <a:ext cx="4544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1F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Central control display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7068312" y="3621024"/>
            <a:ext cx="45445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showing right of way, per-lane queues, and the violation log — one view of every device's state.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5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1F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phase change, four things happen in order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11F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Green — free flow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Ramps sit idle, bollard is flat. Traffic moves at the posted limit through its lane.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08960" y="217627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10712" y="1920240"/>
            <a:ext cx="26060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9312" y="219456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39312" y="28803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11F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Yellow — ramps activate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39312" y="361188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10-second countdown appears at each bollard. Ramps glow and clamp every car to a hard low speed, regardless of the speed limit set.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71032" y="217627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72784" y="1920240"/>
            <a:ext cx="26060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01384" y="2194560"/>
            <a:ext cx="502920" cy="50292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8" name="Text 16"/>
          <p:cNvSpPr/>
          <p:nvPr/>
        </p:nvSpPr>
        <p:spPr>
          <a:xfrm>
            <a:off x="6501384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01384" y="28803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11F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Red — bollard rises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01384" y="361188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0, the bollard rises across the lane and physically holds vehicles at the line until the phase changes.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33104" y="217627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34856" y="1920240"/>
            <a:ext cx="26060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63456" y="2194560"/>
            <a:ext cx="502920" cy="502920"/>
          </a:xfrm>
          <a:prstGeom prst="ellipse">
            <a:avLst/>
          </a:prstGeom>
          <a:solidFill>
            <a:srgbClr val="211F1D"/>
          </a:solidFill>
          <a:ln/>
        </p:spPr>
      </p:sp>
      <p:sp>
        <p:nvSpPr>
          <p:cNvPr id="24" name="Text 22"/>
          <p:cNvSpPr/>
          <p:nvPr/>
        </p:nvSpPr>
        <p:spPr>
          <a:xfrm>
            <a:off x="9363456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363456" y="28803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11F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Camera logs the record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363456" y="361188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passed the camera above the limit before the ramps caught it is flagged and counted centrally.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1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3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Working in the browser today</a:t>
            </a:r>
            <a:endParaRPr lang="en-US" sz="2500" dirty="0"/>
          </a:p>
        </p:txBody>
      </p:sp>
      <p:pic>
        <p:nvPicPr>
          <p:cNvPr id="4" name="Image 0" descr="sim_fu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7863840" cy="4837176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732520" y="1828800"/>
            <a:ext cx="2926080" cy="914400"/>
          </a:xfrm>
          <a:prstGeom prst="rect">
            <a:avLst/>
          </a:prstGeom>
          <a:solidFill>
            <a:srgbClr val="2E2B27"/>
          </a:solidFill>
          <a:ln/>
        </p:spPr>
      </p:sp>
      <p:sp>
        <p:nvSpPr>
          <p:cNvPr id="6" name="Text 3"/>
          <p:cNvSpPr/>
          <p:nvPr/>
        </p:nvSpPr>
        <p:spPr>
          <a:xfrm>
            <a:off x="8915400" y="19385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A9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OF WAY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915400" y="22128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Vertical / Horizontal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732520" y="2926080"/>
            <a:ext cx="2926080" cy="914400"/>
          </a:xfrm>
          <a:prstGeom prst="rect">
            <a:avLst/>
          </a:prstGeom>
          <a:solidFill>
            <a:srgbClr val="2E2B27"/>
          </a:solidFill>
          <a:ln/>
        </p:spPr>
      </p:sp>
      <p:sp>
        <p:nvSpPr>
          <p:cNvPr id="9" name="Text 6"/>
          <p:cNvSpPr/>
          <p:nvPr/>
        </p:nvSpPr>
        <p:spPr>
          <a:xfrm>
            <a:off x="8915400" y="30358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A9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 TRACKING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915400" y="33101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Per-lane, live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732520" y="4023360"/>
            <a:ext cx="2926080" cy="914400"/>
          </a:xfrm>
          <a:prstGeom prst="rect">
            <a:avLst/>
          </a:prstGeom>
          <a:solidFill>
            <a:srgbClr val="2E2B27"/>
          </a:solidFill>
          <a:ln/>
        </p:spPr>
      </p:sp>
      <p:sp>
        <p:nvSpPr>
          <p:cNvPr id="12" name="Text 9"/>
          <p:cNvSpPr/>
          <p:nvPr/>
        </p:nvSpPr>
        <p:spPr>
          <a:xfrm>
            <a:off x="8915400" y="41330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A9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VIOLATIONS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915400" y="44074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Auto-logged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732520" y="5120640"/>
            <a:ext cx="2926080" cy="914400"/>
          </a:xfrm>
          <a:prstGeom prst="rect">
            <a:avLst/>
          </a:prstGeom>
          <a:solidFill>
            <a:srgbClr val="2E2B27"/>
          </a:solidFill>
          <a:ln/>
        </p:spPr>
      </p:sp>
      <p:sp>
        <p:nvSpPr>
          <p:cNvPr id="15" name="Text 12"/>
          <p:cNvSpPr/>
          <p:nvPr/>
        </p:nvSpPr>
        <p:spPr>
          <a:xfrm>
            <a:off x="8915400" y="52303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A9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WITH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915400" y="55046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HTML5 Canvas + JS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5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11F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Calming that escalates, and enforcement that remembers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993392"/>
            <a:ext cx="201168" cy="201168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928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1F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Gradual, not sudden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60120" y="225856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that misses the ramp still meets a bollard, not a collision — speed is bled off in stages before the merge.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3044952"/>
            <a:ext cx="201168" cy="201168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9443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1F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Limit-proof by design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331012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yellow-phase clamp is a fixed speed, not a fraction of the posted limit, so raising the limit can't defeat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4096512"/>
            <a:ext cx="201168" cy="201168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9959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1F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Accountability without a permanent officer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60120" y="436168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camera capture is logged centrally, so enforcement doesn't stop when nobody is standing at the junction.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5148072"/>
            <a:ext cx="201168" cy="201168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0474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1F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Cheap to pilot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60120" y="541324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control model runs in a browser today — the path to hardware is wiring ramps and bollards to the same logic, not rebuilding it.</a:t>
            </a:r>
            <a:endParaRPr lang="en-US" sz="1200" dirty="0"/>
          </a:p>
        </p:txBody>
      </p:sp>
      <p:pic>
        <p:nvPicPr>
          <p:cNvPr id="16" name="Image 0" descr="road_phot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1920240"/>
            <a:ext cx="5074920" cy="3291840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pic>
      <p:sp>
        <p:nvSpPr>
          <p:cNvPr id="17" name="Text 14"/>
          <p:cNvSpPr/>
          <p:nvPr/>
        </p:nvSpPr>
        <p:spPr>
          <a:xfrm>
            <a:off x="6537960" y="534924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of this model was designed against this exact road, not a generic intersection.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1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3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simulation to a junction that acts on itself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4023360"/>
          </a:xfrm>
          <a:prstGeom prst="rect">
            <a:avLst/>
          </a:prstGeom>
          <a:solidFill>
            <a:srgbClr val="2E2B2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icons/sens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4003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632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5F3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Sensor validation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749040"/>
            <a:ext cx="2057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Radar/inductive speed sensing to feed real vehicle speeds into the same phase logic.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0712" y="1965960"/>
            <a:ext cx="2606040" cy="4023360"/>
          </a:xfrm>
          <a:prstGeom prst="rect">
            <a:avLst/>
          </a:prstGeom>
          <a:solidFill>
            <a:srgbClr val="2E2B2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85032" y="224028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icons/spee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052" y="24003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5032" y="30632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5F3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Actuated hardware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85032" y="3749040"/>
            <a:ext cx="2057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Motorized ramp segments and a physical rising bollard, driven by the exact state machine already built.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72784" y="1965960"/>
            <a:ext cx="2606040" cy="4023360"/>
          </a:xfrm>
          <a:prstGeom prst="rect">
            <a:avLst/>
          </a:prstGeom>
          <a:solidFill>
            <a:srgbClr val="2E2B2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47104" y="224028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2" descr="icons/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124" y="24003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47104" y="30632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5F3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Solar + off-grid power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547104" y="3749040"/>
            <a:ext cx="2057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self-contained unit that doesn't depend on the grid reaching the junction.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34856" y="1965960"/>
            <a:ext cx="2606040" cy="4023360"/>
          </a:xfrm>
          <a:prstGeom prst="rect">
            <a:avLst/>
          </a:prstGeom>
          <a:solidFill>
            <a:srgbClr val="2E2B2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409176" y="224028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icons/handshak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9196" y="240030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09176" y="30632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5F3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Pilot partnership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409176" y="3749040"/>
            <a:ext cx="2057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physical pilot at Bogoso Junction with the local road authority before wider rollout.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1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914400"/>
            <a:ext cx="201168" cy="201168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0" y="914400"/>
            <a:ext cx="201168" cy="20116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914400"/>
            <a:ext cx="201168" cy="201168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103601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F3E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make Bogoso Junction slow down on its own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SmartJunction — ramps, bollards, and cameras that share one traffic-light brain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1206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SmartJunction — Adaptive Speed Control for Unmarked T-Junctions</dc:title>
  <dc:subject>PptxGenJS Presentation</dc:subject>
  <dc:creator>SmartJunction</dc:creator>
  <cp:lastModifiedBy>SmartJunction</cp:lastModifiedBy>
  <cp:revision>1</cp:revision>
  <dcterms:created xsi:type="dcterms:W3CDTF">2026-07-08T05:49:01Z</dcterms:created>
  <dcterms:modified xsi:type="dcterms:W3CDTF">2026-07-08T05:49:01Z</dcterms:modified>
</cp:coreProperties>
</file>